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KJbU7j343euxTegXNINLasdnY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54864"/>
            <a:ext cx="201168" cy="5033772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D1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238744" y="274320"/>
            <a:ext cx="164592" cy="164592"/>
          </a:xfrm>
          <a:prstGeom prst="ellipse">
            <a:avLst/>
          </a:prstGeom>
          <a:solidFill>
            <a:srgbClr val="028090">
              <a:alpha val="65098"/>
            </a:srgbClr>
          </a:solidFill>
          <a:ln cap="flat" cmpd="sng" w="12700">
            <a:solidFill>
              <a:srgbClr val="028090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8513064" y="274320"/>
            <a:ext cx="164592" cy="164592"/>
          </a:xfrm>
          <a:prstGeom prst="ellipse">
            <a:avLst/>
          </a:prstGeom>
          <a:solidFill>
            <a:srgbClr val="00A896">
              <a:alpha val="65098"/>
            </a:srgbClr>
          </a:solidFill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" name="Google Shape;21;p1"/>
          <p:cNvCxnSpPr/>
          <p:nvPr/>
        </p:nvCxnSpPr>
        <p:spPr>
          <a:xfrm>
            <a:off x="8321040" y="356616"/>
            <a:ext cx="274320" cy="0"/>
          </a:xfrm>
          <a:prstGeom prst="straightConnector1">
            <a:avLst/>
          </a:prstGeom>
          <a:noFill/>
          <a:ln cap="flat" cmpd="sng" w="12700">
            <a:solidFill>
              <a:srgbClr val="00A89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8193024" y="749808"/>
            <a:ext cx="164592" cy="164592"/>
          </a:xfrm>
          <a:prstGeom prst="ellipse">
            <a:avLst/>
          </a:prstGeom>
          <a:solidFill>
            <a:srgbClr val="028090">
              <a:alpha val="65098"/>
            </a:srgbClr>
          </a:solidFill>
          <a:ln cap="flat" cmpd="sng" w="12700">
            <a:solidFill>
              <a:srgbClr val="028090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558784" y="749808"/>
            <a:ext cx="164592" cy="164592"/>
          </a:xfrm>
          <a:prstGeom prst="ellipse">
            <a:avLst/>
          </a:prstGeom>
          <a:solidFill>
            <a:srgbClr val="00A896">
              <a:alpha val="65098"/>
            </a:srgbClr>
          </a:solidFill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" name="Google Shape;24;p1"/>
          <p:cNvCxnSpPr/>
          <p:nvPr/>
        </p:nvCxnSpPr>
        <p:spPr>
          <a:xfrm>
            <a:off x="8275320" y="832104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0A89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1"/>
          <p:cNvSpPr/>
          <p:nvPr/>
        </p:nvSpPr>
        <p:spPr>
          <a:xfrm>
            <a:off x="8284464" y="1225296"/>
            <a:ext cx="164592" cy="164592"/>
          </a:xfrm>
          <a:prstGeom prst="ellipse">
            <a:avLst/>
          </a:prstGeom>
          <a:solidFill>
            <a:srgbClr val="028090">
              <a:alpha val="65098"/>
            </a:srgbClr>
          </a:solidFill>
          <a:ln cap="flat" cmpd="sng" w="12700">
            <a:solidFill>
              <a:srgbClr val="028090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8467344" y="1225296"/>
            <a:ext cx="164592" cy="164592"/>
          </a:xfrm>
          <a:prstGeom prst="ellipse">
            <a:avLst/>
          </a:prstGeom>
          <a:solidFill>
            <a:srgbClr val="00A896">
              <a:alpha val="65098"/>
            </a:srgbClr>
          </a:solidFill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" name="Google Shape;27;p1"/>
          <p:cNvCxnSpPr/>
          <p:nvPr/>
        </p:nvCxnSpPr>
        <p:spPr>
          <a:xfrm>
            <a:off x="8366760" y="1307592"/>
            <a:ext cx="182880" cy="0"/>
          </a:xfrm>
          <a:prstGeom prst="straightConnector1">
            <a:avLst/>
          </a:prstGeom>
          <a:noFill/>
          <a:ln cap="flat" cmpd="sng" w="12700">
            <a:solidFill>
              <a:srgbClr val="00A89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1"/>
          <p:cNvSpPr/>
          <p:nvPr/>
        </p:nvSpPr>
        <p:spPr>
          <a:xfrm>
            <a:off x="8238744" y="1700784"/>
            <a:ext cx="164592" cy="164592"/>
          </a:xfrm>
          <a:prstGeom prst="ellipse">
            <a:avLst/>
          </a:prstGeom>
          <a:solidFill>
            <a:srgbClr val="028090">
              <a:alpha val="65098"/>
            </a:srgbClr>
          </a:solidFill>
          <a:ln cap="flat" cmpd="sng" w="12700">
            <a:solidFill>
              <a:srgbClr val="028090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8513064" y="1700784"/>
            <a:ext cx="164592" cy="164592"/>
          </a:xfrm>
          <a:prstGeom prst="ellipse">
            <a:avLst/>
          </a:prstGeom>
          <a:solidFill>
            <a:srgbClr val="00A896">
              <a:alpha val="65098"/>
            </a:srgbClr>
          </a:solidFill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" name="Google Shape;30;p1"/>
          <p:cNvCxnSpPr/>
          <p:nvPr/>
        </p:nvCxnSpPr>
        <p:spPr>
          <a:xfrm>
            <a:off x="8321040" y="1783080"/>
            <a:ext cx="274320" cy="0"/>
          </a:xfrm>
          <a:prstGeom prst="straightConnector1">
            <a:avLst/>
          </a:prstGeom>
          <a:noFill/>
          <a:ln cap="flat" cmpd="sng" w="12700">
            <a:solidFill>
              <a:srgbClr val="00A89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1"/>
          <p:cNvSpPr/>
          <p:nvPr/>
        </p:nvSpPr>
        <p:spPr>
          <a:xfrm>
            <a:off x="8193024" y="2176272"/>
            <a:ext cx="164592" cy="164592"/>
          </a:xfrm>
          <a:prstGeom prst="ellipse">
            <a:avLst/>
          </a:prstGeom>
          <a:solidFill>
            <a:srgbClr val="028090">
              <a:alpha val="65098"/>
            </a:srgbClr>
          </a:solidFill>
          <a:ln cap="flat" cmpd="sng" w="12700">
            <a:solidFill>
              <a:srgbClr val="028090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8558784" y="2176272"/>
            <a:ext cx="164592" cy="164592"/>
          </a:xfrm>
          <a:prstGeom prst="ellipse">
            <a:avLst/>
          </a:prstGeom>
          <a:solidFill>
            <a:srgbClr val="00A896">
              <a:alpha val="65098"/>
            </a:srgbClr>
          </a:solidFill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" name="Google Shape;33;p1"/>
          <p:cNvCxnSpPr/>
          <p:nvPr/>
        </p:nvCxnSpPr>
        <p:spPr>
          <a:xfrm>
            <a:off x="8275320" y="2258568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0A89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1"/>
          <p:cNvSpPr/>
          <p:nvPr/>
        </p:nvSpPr>
        <p:spPr>
          <a:xfrm>
            <a:off x="8284464" y="2651760"/>
            <a:ext cx="164592" cy="164592"/>
          </a:xfrm>
          <a:prstGeom prst="ellipse">
            <a:avLst/>
          </a:prstGeom>
          <a:solidFill>
            <a:srgbClr val="028090">
              <a:alpha val="65098"/>
            </a:srgbClr>
          </a:solidFill>
          <a:ln cap="flat" cmpd="sng" w="12700">
            <a:solidFill>
              <a:srgbClr val="028090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8467344" y="2651760"/>
            <a:ext cx="164592" cy="164592"/>
          </a:xfrm>
          <a:prstGeom prst="ellipse">
            <a:avLst/>
          </a:prstGeom>
          <a:solidFill>
            <a:srgbClr val="00A896">
              <a:alpha val="65098"/>
            </a:srgbClr>
          </a:solidFill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" name="Google Shape;36;p1"/>
          <p:cNvCxnSpPr/>
          <p:nvPr/>
        </p:nvCxnSpPr>
        <p:spPr>
          <a:xfrm>
            <a:off x="8366760" y="2734056"/>
            <a:ext cx="182880" cy="0"/>
          </a:xfrm>
          <a:prstGeom prst="straightConnector1">
            <a:avLst/>
          </a:prstGeom>
          <a:noFill/>
          <a:ln cap="flat" cmpd="sng" w="12700">
            <a:solidFill>
              <a:srgbClr val="00A89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1"/>
          <p:cNvSpPr/>
          <p:nvPr/>
        </p:nvSpPr>
        <p:spPr>
          <a:xfrm>
            <a:off x="8238744" y="3127248"/>
            <a:ext cx="164592" cy="164592"/>
          </a:xfrm>
          <a:prstGeom prst="ellipse">
            <a:avLst/>
          </a:prstGeom>
          <a:solidFill>
            <a:srgbClr val="028090">
              <a:alpha val="65098"/>
            </a:srgbClr>
          </a:solidFill>
          <a:ln cap="flat" cmpd="sng" w="12700">
            <a:solidFill>
              <a:srgbClr val="028090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8513064" y="3127248"/>
            <a:ext cx="164592" cy="164592"/>
          </a:xfrm>
          <a:prstGeom prst="ellipse">
            <a:avLst/>
          </a:prstGeom>
          <a:solidFill>
            <a:srgbClr val="00A896">
              <a:alpha val="65098"/>
            </a:srgbClr>
          </a:solidFill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1"/>
          <p:cNvCxnSpPr/>
          <p:nvPr/>
        </p:nvCxnSpPr>
        <p:spPr>
          <a:xfrm>
            <a:off x="8321040" y="3209544"/>
            <a:ext cx="274320" cy="0"/>
          </a:xfrm>
          <a:prstGeom prst="straightConnector1">
            <a:avLst/>
          </a:prstGeom>
          <a:noFill/>
          <a:ln cap="flat" cmpd="sng" w="12700">
            <a:solidFill>
              <a:srgbClr val="00A89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"/>
          <p:cNvSpPr/>
          <p:nvPr/>
        </p:nvSpPr>
        <p:spPr>
          <a:xfrm>
            <a:off x="8193024" y="3602736"/>
            <a:ext cx="164592" cy="164592"/>
          </a:xfrm>
          <a:prstGeom prst="ellipse">
            <a:avLst/>
          </a:prstGeom>
          <a:solidFill>
            <a:srgbClr val="028090">
              <a:alpha val="65098"/>
            </a:srgbClr>
          </a:solidFill>
          <a:ln cap="flat" cmpd="sng" w="12700">
            <a:solidFill>
              <a:srgbClr val="028090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8558784" y="3602736"/>
            <a:ext cx="164592" cy="164592"/>
          </a:xfrm>
          <a:prstGeom prst="ellipse">
            <a:avLst/>
          </a:prstGeom>
          <a:solidFill>
            <a:srgbClr val="00A896">
              <a:alpha val="65098"/>
            </a:srgbClr>
          </a:solidFill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" name="Google Shape;42;p1"/>
          <p:cNvCxnSpPr/>
          <p:nvPr/>
        </p:nvCxnSpPr>
        <p:spPr>
          <a:xfrm>
            <a:off x="8275320" y="3685032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0A89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1"/>
          <p:cNvSpPr/>
          <p:nvPr/>
        </p:nvSpPr>
        <p:spPr>
          <a:xfrm>
            <a:off x="8284464" y="4078224"/>
            <a:ext cx="164592" cy="164592"/>
          </a:xfrm>
          <a:prstGeom prst="ellipse">
            <a:avLst/>
          </a:prstGeom>
          <a:solidFill>
            <a:srgbClr val="028090">
              <a:alpha val="65098"/>
            </a:srgbClr>
          </a:solidFill>
          <a:ln cap="flat" cmpd="sng" w="12700">
            <a:solidFill>
              <a:srgbClr val="028090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8467344" y="4078224"/>
            <a:ext cx="164592" cy="164592"/>
          </a:xfrm>
          <a:prstGeom prst="ellipse">
            <a:avLst/>
          </a:prstGeom>
          <a:solidFill>
            <a:srgbClr val="00A896">
              <a:alpha val="65098"/>
            </a:srgbClr>
          </a:solidFill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" name="Google Shape;45;p1"/>
          <p:cNvCxnSpPr/>
          <p:nvPr/>
        </p:nvCxnSpPr>
        <p:spPr>
          <a:xfrm>
            <a:off x="8366760" y="4160520"/>
            <a:ext cx="182880" cy="0"/>
          </a:xfrm>
          <a:prstGeom prst="straightConnector1">
            <a:avLst/>
          </a:prstGeom>
          <a:noFill/>
          <a:ln cap="flat" cmpd="sng" w="12700">
            <a:solidFill>
              <a:srgbClr val="00A89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1"/>
          <p:cNvSpPr/>
          <p:nvPr/>
        </p:nvSpPr>
        <p:spPr>
          <a:xfrm>
            <a:off x="8238744" y="4553712"/>
            <a:ext cx="164592" cy="164592"/>
          </a:xfrm>
          <a:prstGeom prst="ellipse">
            <a:avLst/>
          </a:prstGeom>
          <a:solidFill>
            <a:srgbClr val="028090">
              <a:alpha val="65098"/>
            </a:srgbClr>
          </a:solidFill>
          <a:ln cap="flat" cmpd="sng" w="12700">
            <a:solidFill>
              <a:srgbClr val="028090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8513064" y="4553712"/>
            <a:ext cx="164592" cy="164592"/>
          </a:xfrm>
          <a:prstGeom prst="ellipse">
            <a:avLst/>
          </a:prstGeom>
          <a:solidFill>
            <a:srgbClr val="00A896">
              <a:alpha val="65098"/>
            </a:srgbClr>
          </a:solidFill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502920" y="685800"/>
            <a:ext cx="74982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Predicción de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Antigenicidad de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Proteínas con ML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502927" y="4069075"/>
            <a:ext cx="2134500" cy="365700"/>
          </a:xfrm>
          <a:prstGeom prst="roundRect">
            <a:avLst>
              <a:gd fmla="val 25000" name="adj"/>
            </a:avLst>
          </a:prstGeom>
          <a:solidFill>
            <a:srgbClr val="0D1F3C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502925" y="4069075"/>
            <a:ext cx="213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Alejandro Aparicio - 2026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¿Cuál es el objetivo?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11480" y="1469905"/>
            <a:ext cx="1920300" cy="1645800"/>
          </a:xfrm>
          <a:prstGeom prst="roundRect">
            <a:avLst>
              <a:gd fmla="val 5556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11480" y="1515625"/>
            <a:ext cx="1920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🦠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11480" y="2091697"/>
            <a:ext cx="1920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Patógeno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nuevo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2350008" y="2109985"/>
            <a:ext cx="29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2468880" y="1469905"/>
            <a:ext cx="1920300" cy="1645800"/>
          </a:xfrm>
          <a:prstGeom prst="roundRect">
            <a:avLst>
              <a:gd fmla="val 5556" name="adj"/>
            </a:avLst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2468880" y="1515625"/>
            <a:ext cx="1920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🧬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2468880" y="2091697"/>
            <a:ext cx="1920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Sus proteínas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407408" y="2109985"/>
            <a:ext cx="29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526280" y="1469905"/>
            <a:ext cx="1920300" cy="1645800"/>
          </a:xfrm>
          <a:prstGeom prst="roundRect">
            <a:avLst>
              <a:gd fmla="val 5556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526280" y="1515625"/>
            <a:ext cx="1920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❓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526280" y="2091697"/>
            <a:ext cx="1920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¿Cuál activa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sistema inmune?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464808" y="2109985"/>
            <a:ext cx="29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6583680" y="1469905"/>
            <a:ext cx="1920300" cy="1645800"/>
          </a:xfrm>
          <a:prstGeom prst="roundRect">
            <a:avLst>
              <a:gd fmla="val 5556" name="adj"/>
            </a:avLst>
          </a:prstGeom>
          <a:solidFill>
            <a:srgbClr val="4C9E4C"/>
          </a:solidFill>
          <a:ln cap="flat" cmpd="sng" w="12700">
            <a:solidFill>
              <a:srgbClr val="4C9E4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6583680" y="1515625"/>
            <a:ext cx="1920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💉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583680" y="2091697"/>
            <a:ext cx="1920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Candidatos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vacuna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11480" y="3886200"/>
            <a:ext cx="109728" cy="530352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521208" y="3886200"/>
            <a:ext cx="8211312" cy="530352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667512" y="3886200"/>
            <a:ext cx="79735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4D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C4D00"/>
                </a:solidFill>
                <a:latin typeface="Calibri"/>
                <a:ea typeface="Calibri"/>
                <a:cs typeface="Calibri"/>
                <a:sym typeface="Calibri"/>
              </a:rPr>
              <a:t>Identificarlos computacionalmente evita meses de trabajo experimental.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 / </a:t>
            </a: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es un antígeno?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11480" y="804672"/>
            <a:ext cx="109728" cy="50292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521208" y="804672"/>
            <a:ext cx="8211312" cy="502920"/>
          </a:xfrm>
          <a:prstGeom prst="rect">
            <a:avLst/>
          </a:prstGeom>
          <a:solidFill>
            <a:srgbClr val="EBF4FF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667512" y="804672"/>
            <a:ext cx="79735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Un antígeno es cualquier molécula que el sistema inmune puede reconocer y atacar.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65760" y="1481328"/>
            <a:ext cx="1920240" cy="1737360"/>
          </a:xfrm>
          <a:prstGeom prst="roundRect">
            <a:avLst>
              <a:gd fmla="val 5263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438912" y="1554480"/>
            <a:ext cx="329184" cy="329184"/>
          </a:xfrm>
          <a:prstGeom prst="ellipse">
            <a:avLst/>
          </a:prstGeom>
          <a:solidFill>
            <a:srgbClr val="FFFFFF">
              <a:alpha val="85098"/>
            </a:srgbClr>
          </a:solidFill>
          <a:ln cap="flat" cmpd="sng" w="12700">
            <a:solidFill>
              <a:srgbClr val="FFFF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438912" y="155448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65760" y="1901952"/>
            <a:ext cx="192024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patógeno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entra al cuerpo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2304288" y="2176272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423160" y="1481328"/>
            <a:ext cx="1920240" cy="1737360"/>
          </a:xfrm>
          <a:prstGeom prst="roundRect">
            <a:avLst>
              <a:gd fmla="val 5263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2496312" y="1554480"/>
            <a:ext cx="329184" cy="329184"/>
          </a:xfrm>
          <a:prstGeom prst="ellipse">
            <a:avLst/>
          </a:prstGeom>
          <a:solidFill>
            <a:srgbClr val="FFFFFF">
              <a:alpha val="85098"/>
            </a:srgbClr>
          </a:solidFill>
          <a:ln cap="flat" cmpd="sng" w="12700">
            <a:solidFill>
              <a:srgbClr val="FFFF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2496312" y="155448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2423160" y="1901952"/>
            <a:ext cx="192024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Sus proteínas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contactan al sistema inmune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361688" y="2176272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480560" y="1481328"/>
            <a:ext cx="1920240" cy="1737360"/>
          </a:xfrm>
          <a:prstGeom prst="roundRect">
            <a:avLst>
              <a:gd fmla="val 5263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4553712" y="1554480"/>
            <a:ext cx="329184" cy="329184"/>
          </a:xfrm>
          <a:prstGeom prst="ellipse">
            <a:avLst/>
          </a:prstGeom>
          <a:solidFill>
            <a:srgbClr val="FFFFFF">
              <a:alpha val="85098"/>
            </a:srgbClr>
          </a:solidFill>
          <a:ln cap="flat" cmpd="sng" w="12700">
            <a:solidFill>
              <a:srgbClr val="FFFF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4553712" y="155448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480560" y="1901952"/>
            <a:ext cx="192024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 es antigénico,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activa la respuesta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419088" y="2176272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537960" y="1481328"/>
            <a:ext cx="1920240" cy="1737360"/>
          </a:xfrm>
          <a:prstGeom prst="roundRect">
            <a:avLst>
              <a:gd fmla="val 5263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6611112" y="1554480"/>
            <a:ext cx="329184" cy="329184"/>
          </a:xfrm>
          <a:prstGeom prst="ellipse">
            <a:avLst/>
          </a:prstGeom>
          <a:solidFill>
            <a:srgbClr val="FFFFFF">
              <a:alpha val="85098"/>
            </a:srgbClr>
          </a:solidFill>
          <a:ln cap="flat" cmpd="sng" w="12700">
            <a:solidFill>
              <a:srgbClr val="FFFF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6611112" y="155448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537960" y="1901952"/>
            <a:ext cx="192024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cuerpo aprende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reconocerlo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11480" y="3383280"/>
            <a:ext cx="109728" cy="59436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521208" y="3383280"/>
            <a:ext cx="8211312" cy="59436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667512" y="3383280"/>
            <a:ext cx="79735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4D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C4D00"/>
                </a:solidFill>
                <a:latin typeface="Calibri"/>
                <a:ea typeface="Calibri"/>
                <a:cs typeface="Calibri"/>
                <a:sym typeface="Calibri"/>
              </a:rPr>
              <a:t>En las vacunas: introducimos un antígeno para que el cuerpo aprenda a combatirlo — sin la infección real.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/ </a:t>
            </a: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es un epítopo?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65760" y="2560320"/>
            <a:ext cx="4160520" cy="457200"/>
          </a:xfrm>
          <a:prstGeom prst="rect">
            <a:avLst/>
          </a:prstGeom>
          <a:solidFill>
            <a:srgbClr val="C8DCF0"/>
          </a:solidFill>
          <a:ln cap="flat" cmpd="sng" w="19050">
            <a:solidFill>
              <a:srgbClr val="7AA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365760" y="3090672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Proteína completa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66928" y="2560320"/>
            <a:ext cx="411480" cy="4572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1325880" y="2560320"/>
            <a:ext cx="411480" cy="457200"/>
          </a:xfrm>
          <a:prstGeom prst="rect">
            <a:avLst/>
          </a:prstGeom>
          <a:solidFill>
            <a:srgbClr val="8E44AD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2148840" y="2560320"/>
            <a:ext cx="411480" cy="4572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3291840" y="2560320"/>
            <a:ext cx="411480" cy="45720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" name="Google Shape;126;p4"/>
          <p:cNvCxnSpPr/>
          <p:nvPr/>
        </p:nvCxnSpPr>
        <p:spPr>
          <a:xfrm rot="10800000">
            <a:off x="768096" y="2011680"/>
            <a:ext cx="0" cy="502920"/>
          </a:xfrm>
          <a:prstGeom prst="straightConnector1">
            <a:avLst/>
          </a:prstGeom>
          <a:noFill/>
          <a:ln cap="flat" cmpd="sng" w="19050">
            <a:solidFill>
              <a:srgbClr val="E74C3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7" name="Google Shape;127;p4"/>
          <p:cNvSpPr/>
          <p:nvPr/>
        </p:nvSpPr>
        <p:spPr>
          <a:xfrm>
            <a:off x="402336" y="1835552"/>
            <a:ext cx="80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Epítopo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4"/>
          <p:cNvCxnSpPr/>
          <p:nvPr/>
        </p:nvCxnSpPr>
        <p:spPr>
          <a:xfrm rot="10800000">
            <a:off x="1527048" y="2011680"/>
            <a:ext cx="0" cy="502920"/>
          </a:xfrm>
          <a:prstGeom prst="straightConnector1">
            <a:avLst/>
          </a:prstGeom>
          <a:noFill/>
          <a:ln cap="flat" cmpd="sng" w="19050">
            <a:solidFill>
              <a:srgbClr val="8E44A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9" name="Google Shape;129;p4"/>
          <p:cNvSpPr/>
          <p:nvPr/>
        </p:nvSpPr>
        <p:spPr>
          <a:xfrm>
            <a:off x="1161288" y="1835552"/>
            <a:ext cx="80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Epítopo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4"/>
          <p:cNvCxnSpPr/>
          <p:nvPr/>
        </p:nvCxnSpPr>
        <p:spPr>
          <a:xfrm rot="10800000">
            <a:off x="2350008" y="2011680"/>
            <a:ext cx="0" cy="502920"/>
          </a:xfrm>
          <a:prstGeom prst="straightConnector1">
            <a:avLst/>
          </a:prstGeom>
          <a:noFill/>
          <a:ln cap="flat" cmpd="sng" w="19050">
            <a:solidFill>
              <a:srgbClr val="E67E2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1" name="Google Shape;131;p4"/>
          <p:cNvSpPr/>
          <p:nvPr/>
        </p:nvSpPr>
        <p:spPr>
          <a:xfrm>
            <a:off x="1984248" y="1835552"/>
            <a:ext cx="80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Epítopo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4"/>
          <p:cNvCxnSpPr/>
          <p:nvPr/>
        </p:nvCxnSpPr>
        <p:spPr>
          <a:xfrm rot="10800000">
            <a:off x="3493008" y="2011680"/>
            <a:ext cx="0" cy="502920"/>
          </a:xfrm>
          <a:prstGeom prst="straightConnector1">
            <a:avLst/>
          </a:prstGeom>
          <a:noFill/>
          <a:ln cap="flat" cmpd="sng" w="19050">
            <a:solidFill>
              <a:srgbClr val="1ABC9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3" name="Google Shape;133;p4"/>
          <p:cNvSpPr/>
          <p:nvPr/>
        </p:nvSpPr>
        <p:spPr>
          <a:xfrm>
            <a:off x="3127248" y="1835552"/>
            <a:ext cx="80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BC9C"/>
                </a:solidFill>
                <a:latin typeface="Calibri"/>
                <a:ea typeface="Calibri"/>
                <a:cs typeface="Calibri"/>
                <a:sym typeface="Calibri"/>
              </a:rPr>
              <a:t>Epítopo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663440" y="914400"/>
            <a:ext cx="4114800" cy="105156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663440" y="914400"/>
            <a:ext cx="109728" cy="10515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4800600" y="914400"/>
            <a:ext cx="640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486400" y="914400"/>
            <a:ext cx="31546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8–15 aminoácidos de longitud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663440" y="2148840"/>
            <a:ext cx="4114800" cy="105156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4663440" y="2148840"/>
            <a:ext cx="109728" cy="10515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4800600" y="2148840"/>
            <a:ext cx="640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486400" y="2148840"/>
            <a:ext cx="31546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 sistema inmune aprende a reconocerlo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663440" y="3383280"/>
            <a:ext cx="4114800" cy="105156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4663440" y="3383280"/>
            <a:ext cx="109728" cy="1051560"/>
          </a:xfrm>
          <a:prstGeom prst="rect">
            <a:avLst/>
          </a:prstGeom>
          <a:solidFill>
            <a:srgbClr val="4C9E4C"/>
          </a:solidFill>
          <a:ln cap="flat" cmpd="sng" w="12700">
            <a:solidFill>
              <a:srgbClr val="4C9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4800600" y="3383280"/>
            <a:ext cx="640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486400" y="3383280"/>
            <a:ext cx="31546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 hay al menos uno positivo → proteína antigénica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/ </a:t>
            </a: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 datos: IEDB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65760" y="804672"/>
            <a:ext cx="4114800" cy="384048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365760" y="804672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es IEDB?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57138" y="1458463"/>
            <a:ext cx="274200" cy="27420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457138" y="1458463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841248" y="1298448"/>
            <a:ext cx="3520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Base de datos pública de epítopos inmunológicos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57200" y="2204646"/>
            <a:ext cx="274200" cy="27420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457200" y="2212025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841248" y="2048256"/>
            <a:ext cx="3520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Décadas de experimentos de laboratorio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57138" y="2965579"/>
            <a:ext cx="274200" cy="27420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457138" y="2965579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841248" y="2798064"/>
            <a:ext cx="3520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Cada registro tiene un resultado: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Positivo o Negativo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5"/>
          <p:cNvCxnSpPr/>
          <p:nvPr/>
        </p:nvCxnSpPr>
        <p:spPr>
          <a:xfrm>
            <a:off x="4663440" y="777240"/>
            <a:ext cx="0" cy="4114800"/>
          </a:xfrm>
          <a:prstGeom prst="straightConnector1">
            <a:avLst/>
          </a:prstGeom>
          <a:noFill/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5"/>
          <p:cNvSpPr/>
          <p:nvPr/>
        </p:nvSpPr>
        <p:spPr>
          <a:xfrm>
            <a:off x="4800600" y="841248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Un experimento IEDB: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800600" y="1298450"/>
            <a:ext cx="3977700" cy="2583000"/>
          </a:xfrm>
          <a:prstGeom prst="roundRect">
            <a:avLst>
              <a:gd fmla="val 3226" name="adj"/>
            </a:avLst>
          </a:prstGeom>
          <a:solidFill>
            <a:srgbClr val="F0F4F8"/>
          </a:solidFill>
          <a:ln cap="flat" cmpd="sng" w="12700">
            <a:solidFill>
              <a:srgbClr val="D1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5029200" y="1417320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🧪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5669280" y="1444752"/>
            <a:ext cx="2880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Fragmento de proteína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(epítopo)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675120" y="208483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⬇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029200" y="24231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¿Activa el sistema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inmune humano?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892040" y="3063240"/>
            <a:ext cx="1783080" cy="658368"/>
          </a:xfrm>
          <a:prstGeom prst="rect">
            <a:avLst/>
          </a:prstGeom>
          <a:solidFill>
            <a:srgbClr val="EAF7EA"/>
          </a:solidFill>
          <a:ln cap="flat" cmpd="sng" w="25400">
            <a:solidFill>
              <a:srgbClr val="4C9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4892040" y="3063240"/>
            <a:ext cx="1783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B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6B1E"/>
                </a:solidFill>
                <a:latin typeface="Calibri"/>
                <a:ea typeface="Calibri"/>
                <a:cs typeface="Calibri"/>
                <a:sym typeface="Calibri"/>
              </a:rPr>
              <a:t>✓ Positivo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858000" y="3063240"/>
            <a:ext cx="1783080" cy="658368"/>
          </a:xfrm>
          <a:prstGeom prst="rect">
            <a:avLst/>
          </a:prstGeom>
          <a:solidFill>
            <a:srgbClr val="FDECEA"/>
          </a:solidFill>
          <a:ln cap="flat" cmpd="sng" w="254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6858000" y="3063240"/>
            <a:ext cx="1783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✗ Negativo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/ </a:t>
            </a: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epítopos a etiquetas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57200" y="822960"/>
            <a:ext cx="8229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Tenemos resultados de epítopos individuales.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Necesitamos etiquetas a nivel de proteína.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365760" y="1920240"/>
            <a:ext cx="3474720" cy="411480"/>
          </a:xfrm>
          <a:prstGeom prst="rect">
            <a:avLst/>
          </a:prstGeom>
          <a:solidFill>
            <a:srgbClr val="C8DCF0"/>
          </a:solidFill>
          <a:ln cap="flat" cmpd="sng" w="19050">
            <a:solidFill>
              <a:srgbClr val="7AA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365760" y="235915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Proteína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502920" y="1920240"/>
            <a:ext cx="347472" cy="411480"/>
          </a:xfrm>
          <a:prstGeom prst="rect">
            <a:avLst/>
          </a:prstGeom>
          <a:solidFill>
            <a:srgbClr val="4C9E4C"/>
          </a:solidFill>
          <a:ln cap="flat" cmpd="sng" w="12700">
            <a:solidFill>
              <a:srgbClr val="4C9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914400" y="1920240"/>
            <a:ext cx="347472" cy="41148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1325880" y="1920240"/>
            <a:ext cx="347472" cy="411480"/>
          </a:xfrm>
          <a:prstGeom prst="rect">
            <a:avLst/>
          </a:prstGeom>
          <a:solidFill>
            <a:srgbClr val="4C9E4C"/>
          </a:solidFill>
          <a:ln cap="flat" cmpd="sng" w="12700">
            <a:solidFill>
              <a:srgbClr val="4C9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1737360" y="1920240"/>
            <a:ext cx="347472" cy="411480"/>
          </a:xfrm>
          <a:prstGeom prst="rect">
            <a:avLst/>
          </a:prstGeom>
          <a:solidFill>
            <a:srgbClr val="4C9E4C"/>
          </a:solidFill>
          <a:ln cap="flat" cmpd="sng" w="12700">
            <a:solidFill>
              <a:srgbClr val="4C9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2148840" y="1920240"/>
            <a:ext cx="347472" cy="41148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2560320" y="1920240"/>
            <a:ext cx="347472" cy="411480"/>
          </a:xfrm>
          <a:prstGeom prst="rect">
            <a:avLst/>
          </a:prstGeom>
          <a:solidFill>
            <a:srgbClr val="4C9E4C"/>
          </a:solidFill>
          <a:ln cap="flat" cmpd="sng" w="12700">
            <a:solidFill>
              <a:srgbClr val="4C9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2971800" y="1920240"/>
            <a:ext cx="347472" cy="411480"/>
          </a:xfrm>
          <a:prstGeom prst="rect">
            <a:avLst/>
          </a:prstGeom>
          <a:solidFill>
            <a:srgbClr val="4C9E4C"/>
          </a:solidFill>
          <a:ln cap="flat" cmpd="sng" w="12700">
            <a:solidFill>
              <a:srgbClr val="4C9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365760" y="267004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B1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6B1E"/>
                </a:solidFill>
                <a:latin typeface="Calibri"/>
                <a:ea typeface="Calibri"/>
                <a:cs typeface="Calibri"/>
                <a:sym typeface="Calibri"/>
              </a:rPr>
              <a:t>✓ Positivo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828800" y="267004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✗ Negativo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977640" y="237744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617720" y="1600200"/>
            <a:ext cx="4114800" cy="1508760"/>
          </a:xfrm>
          <a:prstGeom prst="rect">
            <a:avLst/>
          </a:prstGeom>
          <a:solidFill>
            <a:srgbClr val="F0F7F6"/>
          </a:solidFill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617720" y="1600200"/>
            <a:ext cx="109728" cy="15087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4828032" y="16459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La regla: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4828032" y="1993392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 ≥ 1 epítopo es Positivo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proteína antigénica (1)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617720" y="3200400"/>
            <a:ext cx="4114800" cy="566928"/>
          </a:xfrm>
          <a:prstGeom prst="rect">
            <a:avLst/>
          </a:prstGeom>
          <a:solidFill>
            <a:srgbClr val="EAF7EA"/>
          </a:solidFill>
          <a:ln cap="flat" cmpd="sng" w="25400">
            <a:solidFill>
              <a:srgbClr val="4C9E4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4709160" y="3200400"/>
            <a:ext cx="3931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B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6B1E"/>
                </a:solidFill>
                <a:latin typeface="Calibri"/>
                <a:ea typeface="Calibri"/>
                <a:cs typeface="Calibri"/>
                <a:sym typeface="Calibri"/>
              </a:rPr>
              <a:t>🟢  Proteína antigénica  —  label =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65760" y="4462272"/>
            <a:ext cx="109728" cy="475488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75488" y="4462272"/>
            <a:ext cx="8257032" cy="475488"/>
          </a:xfrm>
          <a:prstGeom prst="rect">
            <a:avLst/>
          </a:prstGeom>
          <a:solidFill>
            <a:srgbClr val="EBF4FF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621792" y="4462272"/>
            <a:ext cx="80192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Los epítopos solo se usan para construir las etiquetas. El modelo nunca ve epítopos individuales de la nueva enfermedad.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</a:t>
            </a: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 números por proteína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365760" y="804672"/>
            <a:ext cx="4114800" cy="384048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365760" y="804672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características fisicoquímicas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57200" y="1371600"/>
            <a:ext cx="320040" cy="320040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457200" y="13716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896112" y="1335024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Longitud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96112" y="155448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Número de aminoácidos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457200" y="2084832"/>
            <a:ext cx="320040" cy="320040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457200" y="208483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896112" y="2048256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Peso molecular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896112" y="226771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Tamaño en Daltons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457200" y="2798064"/>
            <a:ext cx="320040" cy="320040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457200" y="279806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896112" y="2761488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Punto isoeléctrico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896112" y="298094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 de carga neta cero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457200" y="3511296"/>
            <a:ext cx="320040" cy="320040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457200" y="351129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896112" y="3474720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GRAVY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896112" y="369417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Índice de hidrofobicidad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709160" y="804672"/>
            <a:ext cx="4069080" cy="3840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4709160" y="804672"/>
            <a:ext cx="4069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 aminoácidos (% en la secuencia)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4846320" y="1298448"/>
            <a:ext cx="704088" cy="384048"/>
          </a:xfrm>
          <a:prstGeom prst="roundRect">
            <a:avLst>
              <a:gd fmla="val 14286" name="adj"/>
            </a:avLst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4846320" y="1298448"/>
            <a:ext cx="704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5586984" y="1298448"/>
            <a:ext cx="704088" cy="384048"/>
          </a:xfrm>
          <a:prstGeom prst="roundRect">
            <a:avLst>
              <a:gd fmla="val 14286" name="adj"/>
            </a:avLst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5586984" y="1298448"/>
            <a:ext cx="704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6327648" y="1298448"/>
            <a:ext cx="704088" cy="384048"/>
          </a:xfrm>
          <a:prstGeom prst="roundRect">
            <a:avLst>
              <a:gd fmla="val 14286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6327648" y="1298448"/>
            <a:ext cx="704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7068312" y="1298448"/>
            <a:ext cx="704088" cy="384048"/>
          </a:xfrm>
          <a:prstGeom prst="roundRect">
            <a:avLst>
              <a:gd fmla="val 14286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7068312" y="1298448"/>
            <a:ext cx="704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7808976" y="1298448"/>
            <a:ext cx="704088" cy="384048"/>
          </a:xfrm>
          <a:prstGeom prst="roundRect">
            <a:avLst>
              <a:gd fmla="val 14286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7808976" y="1298448"/>
            <a:ext cx="704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846320" y="1737360"/>
            <a:ext cx="704088" cy="384048"/>
          </a:xfrm>
          <a:prstGeom prst="roundRect">
            <a:avLst>
              <a:gd fmla="val 14286" name="adj"/>
            </a:avLst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4846320" y="1737360"/>
            <a:ext cx="704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586984" y="1737360"/>
            <a:ext cx="704088" cy="384048"/>
          </a:xfrm>
          <a:prstGeom prst="roundRect">
            <a:avLst>
              <a:gd fmla="val 14286" name="adj"/>
            </a:avLst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5586984" y="1737360"/>
            <a:ext cx="704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6327648" y="1737360"/>
            <a:ext cx="704088" cy="384048"/>
          </a:xfrm>
          <a:prstGeom prst="roundRect">
            <a:avLst>
              <a:gd fmla="val 14286" name="adj"/>
            </a:avLst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6327648" y="1737360"/>
            <a:ext cx="704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7068312" y="1737360"/>
            <a:ext cx="704088" cy="384048"/>
          </a:xfrm>
          <a:prstGeom prst="roundRect">
            <a:avLst>
              <a:gd fmla="val 14286" name="adj"/>
            </a:avLst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7068312" y="1737360"/>
            <a:ext cx="704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7808976" y="1737360"/>
            <a:ext cx="704088" cy="384048"/>
          </a:xfrm>
          <a:prstGeom prst="roundRect">
            <a:avLst>
              <a:gd fmla="val 14286" name="adj"/>
            </a:avLst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7808976" y="1737360"/>
            <a:ext cx="704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4846320" y="2176272"/>
            <a:ext cx="704088" cy="384048"/>
          </a:xfrm>
          <a:prstGeom prst="roundRect">
            <a:avLst>
              <a:gd fmla="val 14286" name="adj"/>
            </a:avLst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4846320" y="2176272"/>
            <a:ext cx="704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5586984" y="2176272"/>
            <a:ext cx="704088" cy="384048"/>
          </a:xfrm>
          <a:prstGeom prst="roundRect">
            <a:avLst>
              <a:gd fmla="val 14286" name="adj"/>
            </a:avLst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5586984" y="2176272"/>
            <a:ext cx="704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6327648" y="2176272"/>
            <a:ext cx="704088" cy="384048"/>
          </a:xfrm>
          <a:prstGeom prst="roundRect">
            <a:avLst>
              <a:gd fmla="val 14286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6327648" y="2176272"/>
            <a:ext cx="704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7068312" y="2176272"/>
            <a:ext cx="704088" cy="384048"/>
          </a:xfrm>
          <a:prstGeom prst="roundRect">
            <a:avLst>
              <a:gd fmla="val 14286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7068312" y="2176272"/>
            <a:ext cx="704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7808976" y="2176272"/>
            <a:ext cx="704088" cy="384048"/>
          </a:xfrm>
          <a:prstGeom prst="roundRect">
            <a:avLst>
              <a:gd fmla="val 14286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7808976" y="2176272"/>
            <a:ext cx="704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846320" y="2615184"/>
            <a:ext cx="704088" cy="384048"/>
          </a:xfrm>
          <a:prstGeom prst="roundRect">
            <a:avLst>
              <a:gd fmla="val 14286" name="adj"/>
            </a:avLst>
          </a:prstGeom>
          <a:solidFill>
            <a:srgbClr val="044B73"/>
          </a:solidFill>
          <a:ln cap="flat" cmpd="sng" w="12700">
            <a:solidFill>
              <a:srgbClr val="044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4846320" y="2615184"/>
            <a:ext cx="704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5586984" y="2615184"/>
            <a:ext cx="704088" cy="384048"/>
          </a:xfrm>
          <a:prstGeom prst="roundRect">
            <a:avLst>
              <a:gd fmla="val 14286" name="adj"/>
            </a:avLst>
          </a:prstGeom>
          <a:solidFill>
            <a:srgbClr val="044B73"/>
          </a:solidFill>
          <a:ln cap="flat" cmpd="sng" w="12700">
            <a:solidFill>
              <a:srgbClr val="044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5586984" y="2615184"/>
            <a:ext cx="704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6327648" y="2615184"/>
            <a:ext cx="704088" cy="384048"/>
          </a:xfrm>
          <a:prstGeom prst="roundRect">
            <a:avLst>
              <a:gd fmla="val 14286" name="adj"/>
            </a:avLst>
          </a:prstGeom>
          <a:solidFill>
            <a:srgbClr val="044B73"/>
          </a:solidFill>
          <a:ln cap="flat" cmpd="sng" w="12700">
            <a:solidFill>
              <a:srgbClr val="044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6327648" y="2615184"/>
            <a:ext cx="704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7068312" y="2615184"/>
            <a:ext cx="704088" cy="384048"/>
          </a:xfrm>
          <a:prstGeom prst="roundRect">
            <a:avLst>
              <a:gd fmla="val 14286" name="adj"/>
            </a:avLst>
          </a:prstGeom>
          <a:solidFill>
            <a:srgbClr val="044B73"/>
          </a:solidFill>
          <a:ln cap="flat" cmpd="sng" w="12700">
            <a:solidFill>
              <a:srgbClr val="044B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7068312" y="2615184"/>
            <a:ext cx="704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7808976" y="2615184"/>
            <a:ext cx="704088" cy="384048"/>
          </a:xfrm>
          <a:prstGeom prst="roundRect">
            <a:avLst>
              <a:gd fmla="val 14286" name="adj"/>
            </a:avLst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7808976" y="2615184"/>
            <a:ext cx="704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4709160" y="3767328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 letras = 20 aminoácidos estándar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365760" y="4114800"/>
            <a:ext cx="109728" cy="804672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475488" y="4114800"/>
            <a:ext cx="8257032" cy="804672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621792" y="4114800"/>
            <a:ext cx="801928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4D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C4D00"/>
                </a:solidFill>
                <a:latin typeface="Calibri"/>
                <a:ea typeface="Calibri"/>
                <a:cs typeface="Calibri"/>
                <a:sym typeface="Calibri"/>
              </a:rPr>
              <a:t>La composición de aminoácidos explica el 78% del poder predictivo del modelo 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4D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C4D00"/>
                </a:solidFill>
                <a:latin typeface="Calibri"/>
                <a:ea typeface="Calibri"/>
                <a:cs typeface="Calibri"/>
                <a:sym typeface="Calibri"/>
              </a:rPr>
              <a:t>la 'receta' de la secuencia importa más que el tamaño.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/ </a:t>
            </a: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modelo: Random Forest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365760" y="1860813"/>
            <a:ext cx="1920300" cy="1828800"/>
          </a:xfrm>
          <a:prstGeom prst="roundRect">
            <a:avLst>
              <a:gd fmla="val 5000" name="adj"/>
            </a:avLst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365760" y="1933965"/>
            <a:ext cx="1920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rPr b="0" i="0" lang="en-US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365760" y="2574045"/>
            <a:ext cx="19203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 números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proteína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2304288" y="2519181"/>
            <a:ext cx="25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2423160" y="1860813"/>
            <a:ext cx="1920300" cy="1828800"/>
          </a:xfrm>
          <a:prstGeom prst="roundRect">
            <a:avLst>
              <a:gd fmla="val 5000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2423160" y="1933965"/>
            <a:ext cx="1920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rPr b="0" i="0" lang="en-US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🌲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2423160" y="2574045"/>
            <a:ext cx="19203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4361688" y="2519181"/>
            <a:ext cx="25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4480560" y="1860813"/>
            <a:ext cx="1920300" cy="1828800"/>
          </a:xfrm>
          <a:prstGeom prst="roundRect">
            <a:avLst>
              <a:gd fmla="val 5000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4480560" y="1933965"/>
            <a:ext cx="1920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rPr b="0" i="0" lang="en-US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4480560" y="2574045"/>
            <a:ext cx="19203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 →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6419088" y="2519181"/>
            <a:ext cx="25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6537960" y="1860813"/>
            <a:ext cx="1920300" cy="1828800"/>
          </a:xfrm>
          <a:prstGeom prst="roundRect">
            <a:avLst>
              <a:gd fmla="val 5000" name="adj"/>
            </a:avLst>
          </a:prstGeom>
          <a:solidFill>
            <a:srgbClr val="4C9E4C"/>
          </a:solidFill>
          <a:ln cap="flat" cmpd="sng" w="12700">
            <a:solidFill>
              <a:srgbClr val="4C9E4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6537960" y="1933965"/>
            <a:ext cx="1920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rPr b="0" i="0" lang="en-US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🏆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6537960" y="2574045"/>
            <a:ext cx="19203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Ranking 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candidatos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/ </a:t>
            </a: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¿Cómo funciona para una nueva enfermedad?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274320" y="1554480"/>
            <a:ext cx="1572768" cy="2011680"/>
          </a:xfrm>
          <a:prstGeom prst="roundRect">
            <a:avLst>
              <a:gd fmla="val 5814" name="adj"/>
            </a:avLst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274320" y="1609344"/>
            <a:ext cx="15727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🦠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274320" y="2157984"/>
            <a:ext cx="15727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Nuevo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patógeno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347472" y="2560320"/>
            <a:ext cx="142646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Sus proteínas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desconocidas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1856232" y="2304288"/>
            <a:ext cx="2194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993392" y="1554480"/>
            <a:ext cx="1572768" cy="2011680"/>
          </a:xfrm>
          <a:prstGeom prst="roundRect">
            <a:avLst>
              <a:gd fmla="val 5814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1993392" y="1609344"/>
            <a:ext cx="15727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🧬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1993392" y="2157984"/>
            <a:ext cx="15727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Secuencia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2066544" y="2560320"/>
            <a:ext cx="142646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Calculamos los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 números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3575304" y="2304288"/>
            <a:ext cx="2194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3712464" y="1554480"/>
            <a:ext cx="1572768" cy="2011680"/>
          </a:xfrm>
          <a:prstGeom prst="roundRect">
            <a:avLst>
              <a:gd fmla="val 5814" name="adj"/>
            </a:avLst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3712464" y="1609344"/>
            <a:ext cx="15727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🌲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3712464" y="2157984"/>
            <a:ext cx="15727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3785616" y="2560320"/>
            <a:ext cx="142646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 entrenado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5294376" y="2304288"/>
            <a:ext cx="2194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5431536" y="1554480"/>
            <a:ext cx="1572768" cy="2011680"/>
          </a:xfrm>
          <a:prstGeom prst="roundRect">
            <a:avLst>
              <a:gd fmla="val 5814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5431536" y="1609344"/>
            <a:ext cx="15727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5431536" y="2157984"/>
            <a:ext cx="15727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 0–1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5504688" y="2560320"/>
            <a:ext cx="142646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Cada proteína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tiene un valor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7013448" y="2304288"/>
            <a:ext cx="2194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7150608" y="1554480"/>
            <a:ext cx="1572768" cy="2011680"/>
          </a:xfrm>
          <a:prstGeom prst="roundRect">
            <a:avLst>
              <a:gd fmla="val 5814" name="adj"/>
            </a:avLst>
          </a:prstGeom>
          <a:solidFill>
            <a:srgbClr val="4C9E4C"/>
          </a:solidFill>
          <a:ln cap="flat" cmpd="sng" w="12700">
            <a:solidFill>
              <a:srgbClr val="4C9E4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7150608" y="1609344"/>
            <a:ext cx="15727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💉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7150608" y="2157984"/>
            <a:ext cx="15727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Candidatos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7223760" y="2560320"/>
            <a:ext cx="142646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 más altas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priorizan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365760" y="3730752"/>
            <a:ext cx="109728" cy="59436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475488" y="3730752"/>
            <a:ext cx="8257032" cy="59436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621792" y="3730752"/>
            <a:ext cx="80192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4D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C4D00"/>
                </a:solidFill>
                <a:latin typeface="Calibri"/>
                <a:ea typeface="Calibri"/>
                <a:cs typeface="Calibri"/>
                <a:sym typeface="Calibri"/>
              </a:rPr>
              <a:t>El modelo nunca ha visto este patógeno — pero sí ha aprendido qué aspecto tienen las proteínas antigénicas en general.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 / </a:t>
            </a: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2026-05-26T12:15:05Z</dcterms:created>
  <dc:creator>PptxGenJS</dc:creator>
</cp:coreProperties>
</file>